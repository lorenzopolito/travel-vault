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61" r:id="rId3"/>
    <p:sldId id="260" r:id="rId4"/>
    <p:sldId id="263" r:id="rId5"/>
    <p:sldId id="262" r:id="rId6"/>
    <p:sldId id="265" r:id="rId7"/>
    <p:sldId id="266" r:id="rId8"/>
    <p:sldId id="264" r:id="rId9"/>
    <p:sldId id="257" r:id="rId10"/>
    <p:sldId id="258" r:id="rId11"/>
    <p:sldId id="25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4/3/2024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4/3/2024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4/3/2024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4/3/2024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4/3/2024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4/3/2024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4/3/2024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4/3/2024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4/3/2024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4/3/2024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4/3/2024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4/3/2024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japan-guide.com/e/e2010.html" TargetMode="External"/><Relationship Id="rId7" Type="http://schemas.openxmlformats.org/officeDocument/2006/relationships/hyperlink" Target="https://www.japan-guide.com/e/e2223.html" TargetMode="External"/><Relationship Id="rId2" Type="http://schemas.openxmlformats.org/officeDocument/2006/relationships/hyperlink" Target="https://www.japan-guide.com/e/e627.html" TargetMode="External"/><Relationship Id="rId1" Type="http://schemas.openxmlformats.org/officeDocument/2006/relationships/slideLayout" Target="../slideLayouts/slideLayout2.xml"/><Relationship Id="rId6" Type="http://schemas.openxmlformats.org/officeDocument/2006/relationships/hyperlink" Target="https://www.japan-guide.com/e/e2359_003.html#digital" TargetMode="External"/><Relationship Id="rId5" Type="http://schemas.openxmlformats.org/officeDocument/2006/relationships/hyperlink" Target="https://www.japan-guide.com/e/e2036.html" TargetMode="External"/><Relationship Id="rId4" Type="http://schemas.openxmlformats.org/officeDocument/2006/relationships/hyperlink" Target="https://www.japan-guide.com/e/e2450.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www.japan-guide.com/e/e2015.html" TargetMode="External"/><Relationship Id="rId2" Type="http://schemas.openxmlformats.org/officeDocument/2006/relationships/hyperlink" Target="https://www.japan-guide.com/e/e2019.html" TargetMode="External"/><Relationship Id="rId1" Type="http://schemas.openxmlformats.org/officeDocument/2006/relationships/slideLayout" Target="../slideLayouts/slideLayout2.xml"/><Relationship Id="rId4" Type="http://schemas.openxmlformats.org/officeDocument/2006/relationships/hyperlink" Target="https://www.japan-guide.com/list/e1004.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t-IT" dirty="0" smtClean="0"/>
              <a:t>Viaggio in Giappone</a:t>
            </a:r>
            <a:endParaRPr lang="it-IT" dirty="0"/>
          </a:p>
        </p:txBody>
      </p:sp>
      <p:sp>
        <p:nvSpPr>
          <p:cNvPr id="3" name="Subtitle 2"/>
          <p:cNvSpPr>
            <a:spLocks noGrp="1"/>
          </p:cNvSpPr>
          <p:nvPr>
            <p:ph type="subTitle" idx="1"/>
          </p:nvPr>
        </p:nvSpPr>
        <p:spPr/>
        <p:txBody>
          <a:bodyPr/>
          <a:lstStyle/>
          <a:p>
            <a:r>
              <a:rPr lang="it-IT" dirty="0" smtClean="0"/>
              <a:t>10th BucioBoys 2025</a:t>
            </a:r>
            <a:endParaRPr lang="it-IT" dirty="0"/>
          </a:p>
        </p:txBody>
      </p:sp>
    </p:spTree>
    <p:extLst>
      <p:ext uri="{BB962C8B-B14F-4D97-AF65-F5344CB8AC3E}">
        <p14:creationId xmlns:p14="http://schemas.microsoft.com/office/powerpoint/2010/main" val="2954011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Il diellemma assicurazione viaggi</a:t>
            </a:r>
            <a:endParaRPr lang="it-IT" dirty="0"/>
          </a:p>
        </p:txBody>
      </p:sp>
      <p:sp>
        <p:nvSpPr>
          <p:cNvPr id="3" name="Content Placeholder 2"/>
          <p:cNvSpPr>
            <a:spLocks noGrp="1"/>
          </p:cNvSpPr>
          <p:nvPr>
            <p:ph idx="1"/>
          </p:nvPr>
        </p:nvSpPr>
        <p:spPr/>
        <p:txBody>
          <a:bodyPr/>
          <a:lstStyle/>
          <a:p>
            <a:r>
              <a:rPr lang="it-IT" dirty="0" smtClean="0"/>
              <a:t>Si può provare con Alianz o Global Assistence</a:t>
            </a:r>
          </a:p>
          <a:p>
            <a:r>
              <a:rPr lang="it-IT" dirty="0" smtClean="0"/>
              <a:t>150€ paccheto con fino a 3000€ di coperura in caso di annullamento voli inclusi</a:t>
            </a:r>
            <a:endParaRPr lang="it-IT" dirty="0"/>
          </a:p>
        </p:txBody>
      </p:sp>
    </p:spTree>
    <p:extLst>
      <p:ext uri="{BB962C8B-B14F-4D97-AF65-F5344CB8AC3E}">
        <p14:creationId xmlns:p14="http://schemas.microsoft.com/office/powerpoint/2010/main" val="1064117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Cosa importante per la partenza</a:t>
            </a:r>
            <a:endParaRPr lang="it-IT" dirty="0"/>
          </a:p>
        </p:txBody>
      </p:sp>
      <p:sp>
        <p:nvSpPr>
          <p:cNvPr id="3" name="Content Placeholder 2"/>
          <p:cNvSpPr>
            <a:spLocks noGrp="1"/>
          </p:cNvSpPr>
          <p:nvPr>
            <p:ph idx="1"/>
          </p:nvPr>
        </p:nvSpPr>
        <p:spPr/>
        <p:txBody>
          <a:bodyPr/>
          <a:lstStyle/>
          <a:p>
            <a:r>
              <a:rPr lang="it-IT" sz="3200" dirty="0" smtClean="0"/>
              <a:t>L’itinerario</a:t>
            </a:r>
          </a:p>
          <a:p>
            <a:r>
              <a:rPr lang="it-IT" sz="3200" dirty="0" smtClean="0"/>
              <a:t>IL PASSAPORTO!! </a:t>
            </a:r>
            <a:r>
              <a:rPr lang="it-IT" dirty="0" smtClean="0"/>
              <a:t>(Valido per almeno altri 6 mesi dalla partenza)</a:t>
            </a:r>
          </a:p>
          <a:p>
            <a:pPr lvl="1"/>
            <a:r>
              <a:rPr lang="it-IT" dirty="0" smtClean="0"/>
              <a:t>Modulo di richista compilato (reperibile dal sito)</a:t>
            </a:r>
          </a:p>
          <a:p>
            <a:pPr lvl="1"/>
            <a:r>
              <a:rPr lang="it-IT" dirty="0" smtClean="0"/>
              <a:t>Documento di Identità valido</a:t>
            </a:r>
          </a:p>
          <a:p>
            <a:pPr lvl="1"/>
            <a:r>
              <a:rPr lang="it-IT" dirty="0" smtClean="0"/>
              <a:t>Marca da bollo da 75,50 €</a:t>
            </a:r>
          </a:p>
          <a:p>
            <a:pPr lvl="1"/>
            <a:r>
              <a:rPr lang="it-IT" dirty="0" smtClean="0"/>
              <a:t>Versamento da 42,50 €</a:t>
            </a:r>
          </a:p>
          <a:p>
            <a:pPr lvl="1"/>
            <a:r>
              <a:rPr lang="it-IT" dirty="0" smtClean="0"/>
              <a:t>Due foto tessere 35x45 mm</a:t>
            </a:r>
          </a:p>
          <a:p>
            <a:pPr lvl="1"/>
            <a:r>
              <a:rPr lang="it-IT" dirty="0" smtClean="0"/>
              <a:t>Se serve in fretta, si può provare di urgenza avvisando la questura, oppure prega dio</a:t>
            </a:r>
          </a:p>
        </p:txBody>
      </p:sp>
    </p:spTree>
    <p:extLst>
      <p:ext uri="{BB962C8B-B14F-4D97-AF65-F5344CB8AC3E}">
        <p14:creationId xmlns:p14="http://schemas.microsoft.com/office/powerpoint/2010/main" val="1709414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Rete Mobile</a:t>
            </a:r>
            <a:endParaRPr lang="it-IT" dirty="0"/>
          </a:p>
        </p:txBody>
      </p:sp>
      <p:sp>
        <p:nvSpPr>
          <p:cNvPr id="3" name="Content Placeholder 2"/>
          <p:cNvSpPr>
            <a:spLocks noGrp="1"/>
          </p:cNvSpPr>
          <p:nvPr>
            <p:ph idx="1"/>
          </p:nvPr>
        </p:nvSpPr>
        <p:spPr/>
        <p:txBody>
          <a:bodyPr/>
          <a:lstStyle/>
          <a:p>
            <a:r>
              <a:rPr lang="it-IT" dirty="0" smtClean="0"/>
              <a:t>Sim digitali 30-50€ aquistabili insieme al JR pass</a:t>
            </a:r>
          </a:p>
          <a:p>
            <a:r>
              <a:rPr lang="it-IT" dirty="0" smtClean="0"/>
              <a:t>Router portatili (ninja wifi) 60-80€ per 14 giorni </a:t>
            </a:r>
            <a:r>
              <a:rPr lang="it-IT" dirty="0"/>
              <a:t>aquistabili insieme al JR pass</a:t>
            </a:r>
            <a:endParaRPr lang="it-IT" dirty="0" smtClean="0"/>
          </a:p>
        </p:txBody>
      </p:sp>
    </p:spTree>
    <p:extLst>
      <p:ext uri="{BB962C8B-B14F-4D97-AF65-F5344CB8AC3E}">
        <p14:creationId xmlns:p14="http://schemas.microsoft.com/office/powerpoint/2010/main" val="3282330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Il JR Pass</a:t>
            </a:r>
            <a:endParaRPr lang="it-IT" dirty="0"/>
          </a:p>
        </p:txBody>
      </p:sp>
      <p:sp>
        <p:nvSpPr>
          <p:cNvPr id="3" name="Content Placeholder 2"/>
          <p:cNvSpPr>
            <a:spLocks noGrp="1"/>
          </p:cNvSpPr>
          <p:nvPr>
            <p:ph idx="1"/>
          </p:nvPr>
        </p:nvSpPr>
        <p:spPr/>
        <p:txBody>
          <a:bodyPr/>
          <a:lstStyle/>
          <a:p>
            <a:endParaRPr lang="it-IT" dirty="0"/>
          </a:p>
        </p:txBody>
      </p:sp>
    </p:spTree>
    <p:extLst>
      <p:ext uri="{BB962C8B-B14F-4D97-AF65-F5344CB8AC3E}">
        <p14:creationId xmlns:p14="http://schemas.microsoft.com/office/powerpoint/2010/main" val="4046898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Cosa mettere in valigia</a:t>
            </a:r>
            <a:endParaRPr lang="it-IT" dirty="0"/>
          </a:p>
        </p:txBody>
      </p:sp>
      <p:sp>
        <p:nvSpPr>
          <p:cNvPr id="3" name="Content Placeholder 2"/>
          <p:cNvSpPr>
            <a:spLocks noGrp="1"/>
          </p:cNvSpPr>
          <p:nvPr>
            <p:ph idx="1"/>
          </p:nvPr>
        </p:nvSpPr>
        <p:spPr/>
        <p:txBody>
          <a:bodyPr>
            <a:normAutofit fontScale="70000" lnSpcReduction="20000"/>
          </a:bodyPr>
          <a:lstStyle/>
          <a:p>
            <a:r>
              <a:rPr lang="it-IT" dirty="0" smtClean="0"/>
              <a:t>Sono sempre dipsonibili in giappone, anche negli hotel, lavanderie fai da te, quindi non è necessario portare i vestiti per 14 giorni</a:t>
            </a:r>
          </a:p>
          <a:p>
            <a:r>
              <a:rPr lang="it-IT" dirty="0" smtClean="0"/>
              <a:t>Kit per il sottovuoto?</a:t>
            </a:r>
          </a:p>
          <a:p>
            <a:r>
              <a:rPr lang="it-IT" dirty="0" smtClean="0"/>
              <a:t>Scarpe facili da togliere e mettere</a:t>
            </a:r>
          </a:p>
          <a:p>
            <a:r>
              <a:rPr lang="it-IT" dirty="0" smtClean="0"/>
              <a:t>Abbondare di calzini puliti e comodi poiche ci si toglie spesso le scarpe</a:t>
            </a:r>
          </a:p>
          <a:p>
            <a:r>
              <a:rPr lang="it-IT" dirty="0" smtClean="0"/>
              <a:t>Adattatori per le prese(recuperabili anche in loco)</a:t>
            </a:r>
          </a:p>
          <a:p>
            <a:r>
              <a:rPr lang="it-IT" dirty="0" smtClean="0"/>
              <a:t>Zaino o borsone da viaggio</a:t>
            </a:r>
          </a:p>
          <a:p>
            <a:r>
              <a:rPr lang="it-IT" dirty="0" smtClean="0"/>
              <a:t>Cestiono portadile</a:t>
            </a:r>
          </a:p>
          <a:p>
            <a:r>
              <a:rPr lang="it-IT" dirty="0" smtClean="0"/>
              <a:t>Medicine standard da viaggio</a:t>
            </a:r>
          </a:p>
          <a:p>
            <a:r>
              <a:rPr lang="it-IT" sz="2900" dirty="0" smtClean="0"/>
              <a:t>DEODORANTE!!!</a:t>
            </a:r>
          </a:p>
          <a:p>
            <a:r>
              <a:rPr lang="it-IT" sz="2400" dirty="0" smtClean="0"/>
              <a:t>Comodità e qualcosa da fare durante il viaggio</a:t>
            </a:r>
          </a:p>
          <a:p>
            <a:r>
              <a:rPr lang="it-IT" sz="2900" dirty="0" smtClean="0"/>
              <a:t>Powerbank</a:t>
            </a:r>
            <a:r>
              <a:rPr lang="it-IT" sz="2400" dirty="0" smtClean="0"/>
              <a:t> bella tosta</a:t>
            </a:r>
          </a:p>
          <a:p>
            <a:r>
              <a:rPr lang="it-IT" sz="2400" dirty="0" smtClean="0"/>
              <a:t>altro</a:t>
            </a:r>
          </a:p>
          <a:p>
            <a:endParaRPr lang="it-IT" dirty="0"/>
          </a:p>
        </p:txBody>
      </p:sp>
      <p:pic>
        <p:nvPicPr>
          <p:cNvPr id="4" name="Picture 3"/>
          <p:cNvPicPr>
            <a:picLocks noChangeAspect="1"/>
          </p:cNvPicPr>
          <p:nvPr/>
        </p:nvPicPr>
        <p:blipFill>
          <a:blip r:embed="rId2"/>
          <a:stretch>
            <a:fillRect/>
          </a:stretch>
        </p:blipFill>
        <p:spPr>
          <a:xfrm>
            <a:off x="7437179" y="2529902"/>
            <a:ext cx="1183120" cy="949565"/>
          </a:xfrm>
          <a:prstGeom prst="rect">
            <a:avLst/>
          </a:prstGeom>
        </p:spPr>
      </p:pic>
      <p:pic>
        <p:nvPicPr>
          <p:cNvPr id="5" name="Picture 4"/>
          <p:cNvPicPr>
            <a:picLocks noChangeAspect="1"/>
          </p:cNvPicPr>
          <p:nvPr/>
        </p:nvPicPr>
        <p:blipFill>
          <a:blip r:embed="rId3"/>
          <a:stretch>
            <a:fillRect/>
          </a:stretch>
        </p:blipFill>
        <p:spPr>
          <a:xfrm>
            <a:off x="5599989" y="3404652"/>
            <a:ext cx="764926" cy="822455"/>
          </a:xfrm>
          <a:prstGeom prst="rect">
            <a:avLst/>
          </a:prstGeom>
        </p:spPr>
      </p:pic>
    </p:spTree>
    <p:extLst>
      <p:ext uri="{BB962C8B-B14F-4D97-AF65-F5344CB8AC3E}">
        <p14:creationId xmlns:p14="http://schemas.microsoft.com/office/powerpoint/2010/main" val="3361989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Cosa fare all’atteraggio</a:t>
            </a:r>
            <a:endParaRPr lang="it-IT" dirty="0"/>
          </a:p>
        </p:txBody>
      </p:sp>
      <p:sp>
        <p:nvSpPr>
          <p:cNvPr id="3" name="Content Placeholder 2"/>
          <p:cNvSpPr>
            <a:spLocks noGrp="1"/>
          </p:cNvSpPr>
          <p:nvPr>
            <p:ph idx="1"/>
          </p:nvPr>
        </p:nvSpPr>
        <p:spPr/>
        <p:txBody>
          <a:bodyPr/>
          <a:lstStyle/>
          <a:p>
            <a:r>
              <a:rPr lang="it-IT" dirty="0" smtClean="0"/>
              <a:t>Procedure per immigrazione (agevolate dall’app bastera per la maggior parte mostrare il QR code)</a:t>
            </a:r>
          </a:p>
          <a:p>
            <a:r>
              <a:rPr lang="it-IT" dirty="0" smtClean="0"/>
              <a:t>Ritiro valige</a:t>
            </a:r>
          </a:p>
          <a:p>
            <a:r>
              <a:rPr lang="it-IT" dirty="0"/>
              <a:t>K</a:t>
            </a:r>
            <a:r>
              <a:rPr lang="it-IT" dirty="0" smtClean="0"/>
              <a:t>ombini tattico per rifoccilarsi dal viaggio</a:t>
            </a:r>
          </a:p>
          <a:p>
            <a:r>
              <a:rPr lang="it-IT" dirty="0" smtClean="0"/>
              <a:t>Uffico JR per convretire il token al JR pass (se si è deciso di prenderlo)</a:t>
            </a:r>
          </a:p>
          <a:p>
            <a:endParaRPr lang="it-IT" dirty="0"/>
          </a:p>
        </p:txBody>
      </p:sp>
      <p:pic>
        <p:nvPicPr>
          <p:cNvPr id="4" name="Picture 3"/>
          <p:cNvPicPr>
            <a:picLocks noChangeAspect="1"/>
          </p:cNvPicPr>
          <p:nvPr/>
        </p:nvPicPr>
        <p:blipFill>
          <a:blip r:embed="rId2"/>
          <a:stretch>
            <a:fillRect/>
          </a:stretch>
        </p:blipFill>
        <p:spPr>
          <a:xfrm>
            <a:off x="9683659" y="2820009"/>
            <a:ext cx="1629964" cy="1180002"/>
          </a:xfrm>
          <a:prstGeom prst="rect">
            <a:avLst/>
          </a:prstGeom>
        </p:spPr>
      </p:pic>
    </p:spTree>
    <p:extLst>
      <p:ext uri="{BB962C8B-B14F-4D97-AF65-F5344CB8AC3E}">
        <p14:creationId xmlns:p14="http://schemas.microsoft.com/office/powerpoint/2010/main" val="886179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Cambio contanti</a:t>
            </a:r>
            <a:endParaRPr lang="it-IT" dirty="0"/>
          </a:p>
        </p:txBody>
      </p:sp>
      <p:sp>
        <p:nvSpPr>
          <p:cNvPr id="3" name="Content Placeholder 2"/>
          <p:cNvSpPr>
            <a:spLocks noGrp="1"/>
          </p:cNvSpPr>
          <p:nvPr>
            <p:ph idx="1"/>
          </p:nvPr>
        </p:nvSpPr>
        <p:spPr/>
        <p:txBody>
          <a:bodyPr/>
          <a:lstStyle/>
          <a:p>
            <a:r>
              <a:rPr lang="it-IT" dirty="0" smtClean="0"/>
              <a:t>Dal 2018 il giappone è molto più aperto a molti circuti bancari (si può scegliere il più conveniente tra quelli disponibili)</a:t>
            </a:r>
          </a:p>
          <a:p>
            <a:r>
              <a:rPr lang="it-IT" dirty="0" smtClean="0"/>
              <a:t>Meglio avere segnato il numero della prorpia banca per eventuali imprevisti</a:t>
            </a:r>
            <a:endParaRPr lang="it-IT" dirty="0"/>
          </a:p>
        </p:txBody>
      </p:sp>
    </p:spTree>
    <p:extLst>
      <p:ext uri="{BB962C8B-B14F-4D97-AF65-F5344CB8AC3E}">
        <p14:creationId xmlns:p14="http://schemas.microsoft.com/office/powerpoint/2010/main" val="3904737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Carte IC</a:t>
            </a:r>
            <a:endParaRPr lang="it-IT" dirty="0"/>
          </a:p>
        </p:txBody>
      </p:sp>
      <p:sp>
        <p:nvSpPr>
          <p:cNvPr id="3" name="Content Placeholder 2"/>
          <p:cNvSpPr>
            <a:spLocks noGrp="1"/>
          </p:cNvSpPr>
          <p:nvPr>
            <p:ph idx="1"/>
          </p:nvPr>
        </p:nvSpPr>
        <p:spPr/>
        <p:txBody>
          <a:bodyPr/>
          <a:lstStyle/>
          <a:p>
            <a:r>
              <a:rPr lang="it-IT" dirty="0"/>
              <a:t>Le carte IC sono carte ricaricabili che possono essere utilizzate per pagare comodamente le tariffe sui </a:t>
            </a:r>
            <a:r>
              <a:rPr lang="it-IT" dirty="0">
                <a:hlinkClick r:id="rId2"/>
              </a:rPr>
              <a:t>mezzi pubblici</a:t>
            </a:r>
            <a:r>
              <a:rPr lang="it-IT" dirty="0"/>
              <a:t> e per effettuare pagamenti presso molti </a:t>
            </a:r>
            <a:r>
              <a:rPr lang="it-IT" dirty="0">
                <a:hlinkClick r:id="rId3"/>
              </a:rPr>
              <a:t>distributori automatici</a:t>
            </a:r>
            <a:r>
              <a:rPr lang="it-IT" dirty="0"/>
              <a:t>, </a:t>
            </a:r>
            <a:r>
              <a:rPr lang="it-IT" dirty="0">
                <a:hlinkClick r:id="rId4"/>
              </a:rPr>
              <a:t>negozi</a:t>
            </a:r>
            <a:r>
              <a:rPr lang="it-IT" dirty="0"/>
              <a:t> e </a:t>
            </a:r>
            <a:r>
              <a:rPr lang="it-IT" dirty="0">
                <a:hlinkClick r:id="rId5"/>
              </a:rPr>
              <a:t>ristoranti</a:t>
            </a:r>
            <a:r>
              <a:rPr lang="it-IT" dirty="0"/>
              <a:t> semplicemente toccando la carta su un lettore per circa un secondo. Decine di operatori ferroviari e di autobus in tutto il Giappone hanno iniziato a emettere le proprie carte IC dal 2001.</a:t>
            </a:r>
          </a:p>
          <a:p>
            <a:r>
              <a:rPr lang="it-IT" dirty="0"/>
              <a:t>Al posto delle schede IC fisiche, è possibile utilizzare </a:t>
            </a:r>
            <a:r>
              <a:rPr lang="it-IT" dirty="0">
                <a:hlinkClick r:id="rId6"/>
              </a:rPr>
              <a:t>versioni digitali</a:t>
            </a:r>
            <a:r>
              <a:rPr lang="it-IT" dirty="0"/>
              <a:t> di alcune delle schede sui </a:t>
            </a:r>
            <a:r>
              <a:rPr lang="it-IT" dirty="0">
                <a:hlinkClick r:id="rId7"/>
              </a:rPr>
              <a:t>telefoni cellulari</a:t>
            </a:r>
            <a:r>
              <a:rPr lang="it-IT" dirty="0"/>
              <a:t>; tuttavia, al momento, i turisti d'oltremare possono farlo solo se possiedono un </a:t>
            </a:r>
            <a:r>
              <a:rPr lang="it-IT" dirty="0">
                <a:hlinkClick r:id="rId6"/>
              </a:rPr>
              <a:t>Iphone</a:t>
            </a:r>
            <a:r>
              <a:rPr lang="it-IT" dirty="0"/>
              <a:t>.</a:t>
            </a:r>
          </a:p>
          <a:p>
            <a:pPr marL="0" indent="0">
              <a:buNone/>
            </a:pPr>
            <a:endParaRPr lang="it-IT" dirty="0"/>
          </a:p>
        </p:txBody>
      </p:sp>
    </p:spTree>
    <p:extLst>
      <p:ext uri="{BB962C8B-B14F-4D97-AF65-F5344CB8AC3E}">
        <p14:creationId xmlns:p14="http://schemas.microsoft.com/office/powerpoint/2010/main" val="2528376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Carte IC</a:t>
            </a:r>
            <a:endParaRPr lang="it-IT"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653037959"/>
              </p:ext>
            </p:extLst>
          </p:nvPr>
        </p:nvGraphicFramePr>
        <p:xfrm>
          <a:off x="1069975" y="2120898"/>
          <a:ext cx="10171224" cy="4303170"/>
        </p:xfrm>
        <a:graphic>
          <a:graphicData uri="http://schemas.openxmlformats.org/drawingml/2006/table">
            <a:tbl>
              <a:tblPr firstRow="1" bandRow="1">
                <a:tableStyleId>{5C22544A-7EE6-4342-B048-85BDC9FD1C3A}</a:tableStyleId>
              </a:tblPr>
              <a:tblGrid>
                <a:gridCol w="1695204">
                  <a:extLst>
                    <a:ext uri="{9D8B030D-6E8A-4147-A177-3AD203B41FA5}">
                      <a16:colId xmlns:a16="http://schemas.microsoft.com/office/drawing/2014/main" val="2319514112"/>
                    </a:ext>
                  </a:extLst>
                </a:gridCol>
                <a:gridCol w="1695204">
                  <a:extLst>
                    <a:ext uri="{9D8B030D-6E8A-4147-A177-3AD203B41FA5}">
                      <a16:colId xmlns:a16="http://schemas.microsoft.com/office/drawing/2014/main" val="2676825092"/>
                    </a:ext>
                  </a:extLst>
                </a:gridCol>
                <a:gridCol w="1695204">
                  <a:extLst>
                    <a:ext uri="{9D8B030D-6E8A-4147-A177-3AD203B41FA5}">
                      <a16:colId xmlns:a16="http://schemas.microsoft.com/office/drawing/2014/main" val="2264910486"/>
                    </a:ext>
                  </a:extLst>
                </a:gridCol>
                <a:gridCol w="1695204">
                  <a:extLst>
                    <a:ext uri="{9D8B030D-6E8A-4147-A177-3AD203B41FA5}">
                      <a16:colId xmlns:a16="http://schemas.microsoft.com/office/drawing/2014/main" val="68838524"/>
                    </a:ext>
                  </a:extLst>
                </a:gridCol>
                <a:gridCol w="1695204">
                  <a:extLst>
                    <a:ext uri="{9D8B030D-6E8A-4147-A177-3AD203B41FA5}">
                      <a16:colId xmlns:a16="http://schemas.microsoft.com/office/drawing/2014/main" val="2883275045"/>
                    </a:ext>
                  </a:extLst>
                </a:gridCol>
                <a:gridCol w="1695204">
                  <a:extLst>
                    <a:ext uri="{9D8B030D-6E8A-4147-A177-3AD203B41FA5}">
                      <a16:colId xmlns:a16="http://schemas.microsoft.com/office/drawing/2014/main" val="1306917779"/>
                    </a:ext>
                  </a:extLst>
                </a:gridCol>
              </a:tblGrid>
              <a:tr h="1462740">
                <a:tc>
                  <a:txBody>
                    <a:bodyPr/>
                    <a:lstStyle/>
                    <a:p>
                      <a:r>
                        <a:rPr lang="it-IT" sz="2000" dirty="0" smtClean="0"/>
                        <a:t>Carta</a:t>
                      </a:r>
                      <a:endParaRPr lang="it-IT" sz="2000" dirty="0"/>
                    </a:p>
                  </a:txBody>
                  <a:tcPr marL="93370" marR="93370" marT="46685" marB="46685"/>
                </a:tc>
                <a:tc>
                  <a:txBody>
                    <a:bodyPr/>
                    <a:lstStyle/>
                    <a:p>
                      <a:r>
                        <a:rPr lang="it-IT" sz="2000" dirty="0" smtClean="0"/>
                        <a:t>Costo Iniziale</a:t>
                      </a:r>
                      <a:endParaRPr lang="it-IT" sz="2000" dirty="0"/>
                    </a:p>
                  </a:txBody>
                  <a:tcPr marL="93370" marR="93370" marT="46685" marB="46685"/>
                </a:tc>
                <a:tc>
                  <a:txBody>
                    <a:bodyPr/>
                    <a:lstStyle/>
                    <a:p>
                      <a:r>
                        <a:rPr lang="it-IT" sz="2000" dirty="0" smtClean="0"/>
                        <a:t>Ricarica Minima</a:t>
                      </a:r>
                      <a:endParaRPr lang="it-IT" sz="2000" dirty="0"/>
                    </a:p>
                  </a:txBody>
                  <a:tcPr marL="93370" marR="93370" marT="46685" marB="46685"/>
                </a:tc>
                <a:tc>
                  <a:txBody>
                    <a:bodyPr/>
                    <a:lstStyle/>
                    <a:p>
                      <a:r>
                        <a:rPr lang="it-IT" sz="2000" dirty="0" smtClean="0"/>
                        <a:t>Ricarica Massima</a:t>
                      </a:r>
                      <a:endParaRPr lang="it-IT" sz="2000" dirty="0"/>
                    </a:p>
                  </a:txBody>
                  <a:tcPr marL="93370" marR="93370" marT="46685" marB="46685"/>
                </a:tc>
                <a:tc>
                  <a:txBody>
                    <a:bodyPr/>
                    <a:lstStyle/>
                    <a:p>
                      <a:r>
                        <a:rPr lang="it-IT" sz="2000" dirty="0" smtClean="0"/>
                        <a:t>Validità</a:t>
                      </a:r>
                      <a:endParaRPr lang="it-IT" sz="2000" dirty="0"/>
                    </a:p>
                  </a:txBody>
                  <a:tcPr marL="93370" marR="93370" marT="46685" marB="46685"/>
                </a:tc>
                <a:tc>
                  <a:txBody>
                    <a:bodyPr/>
                    <a:lstStyle/>
                    <a:p>
                      <a:r>
                        <a:rPr lang="it-IT" sz="2000" dirty="0" smtClean="0"/>
                        <a:t>Utilizzo</a:t>
                      </a:r>
                      <a:endParaRPr lang="it-IT" sz="2000" dirty="0"/>
                    </a:p>
                  </a:txBody>
                  <a:tcPr marL="93370" marR="93370" marT="46685" marB="46685"/>
                </a:tc>
                <a:extLst>
                  <a:ext uri="{0D108BD9-81ED-4DB2-BD59-A6C34878D82A}">
                    <a16:rowId xmlns:a16="http://schemas.microsoft.com/office/drawing/2014/main" val="164706675"/>
                  </a:ext>
                </a:extLst>
              </a:tr>
              <a:tr h="847461">
                <a:tc>
                  <a:txBody>
                    <a:bodyPr/>
                    <a:lstStyle/>
                    <a:p>
                      <a:pPr algn="ctr"/>
                      <a:r>
                        <a:rPr lang="it-IT" sz="1800" dirty="0" smtClean="0"/>
                        <a:t>Suica</a:t>
                      </a:r>
                      <a:endParaRPr lang="it-IT" sz="18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¥1000 (¥500 deposito + ¥500 credito)</a:t>
                      </a:r>
                      <a:endParaRPr lang="it-IT" sz="14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¥10</a:t>
                      </a:r>
                      <a:endParaRPr lang="it-IT" sz="14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¥20.000</a:t>
                      </a:r>
                      <a:endParaRPr lang="it-IT" sz="1400" dirty="0"/>
                    </a:p>
                  </a:txBody>
                  <a:tcPr marL="93370" marR="93370" marT="46685" marB="46685"/>
                </a:tc>
                <a:tc>
                  <a:txBody>
                    <a:bodyPr/>
                    <a:lstStyle/>
                    <a:p>
                      <a:pPr algn="ctr"/>
                      <a:r>
                        <a:rPr lang="it-IT" sz="1400" dirty="0" smtClean="0"/>
                        <a:t>10 anni</a:t>
                      </a:r>
                      <a:endParaRPr lang="it-IT" sz="14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Trasporti pubblici e shopping a Tokyo e altre aree selezionate</a:t>
                      </a:r>
                      <a:endParaRPr lang="it-IT" sz="1400" dirty="0"/>
                    </a:p>
                  </a:txBody>
                  <a:tcPr marL="93370" marR="93370" marT="46685" marB="46685"/>
                </a:tc>
                <a:extLst>
                  <a:ext uri="{0D108BD9-81ED-4DB2-BD59-A6C34878D82A}">
                    <a16:rowId xmlns:a16="http://schemas.microsoft.com/office/drawing/2014/main" val="1070406605"/>
                  </a:ext>
                </a:extLst>
              </a:tr>
              <a:tr h="847461">
                <a:tc>
                  <a:txBody>
                    <a:bodyPr/>
                    <a:lstStyle/>
                    <a:p>
                      <a:pPr algn="ctr"/>
                      <a:r>
                        <a:rPr lang="it-IT" sz="1800" dirty="0" smtClean="0"/>
                        <a:t>Pasmo</a:t>
                      </a:r>
                      <a:endParaRPr lang="it-IT" sz="1800" dirty="0"/>
                    </a:p>
                  </a:txBody>
                  <a:tcPr marL="93370" marR="93370" marT="46685" marB="46685"/>
                </a:tc>
                <a:tc>
                  <a:txBody>
                    <a:bodyPr/>
                    <a:lstStyle/>
                    <a:p>
                      <a:pPr algn="ctr"/>
                      <a:r>
                        <a:rPr lang="it-IT" sz="1400" dirty="0" smtClean="0"/>
                        <a:t>¥1000 - ¥10000 (incluso deposito di ¥500)</a:t>
                      </a:r>
                      <a:endParaRPr lang="it-IT" sz="14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¥10</a:t>
                      </a:r>
                      <a:endParaRPr lang="it-IT" sz="14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¥20.000</a:t>
                      </a:r>
                      <a:endParaRPr lang="it-IT" sz="1400" dirty="0"/>
                    </a:p>
                  </a:txBody>
                  <a:tcPr marL="93370" marR="93370" marT="46685" marB="46685"/>
                </a:tc>
                <a:tc>
                  <a:txBody>
                    <a:bodyPr/>
                    <a:lstStyle/>
                    <a:p>
                      <a:pPr algn="ctr"/>
                      <a:r>
                        <a:rPr lang="it-IT" sz="1400" dirty="0" smtClean="0"/>
                        <a:t>10 anni</a:t>
                      </a:r>
                      <a:endParaRPr lang="it-IT" sz="1400" dirty="0"/>
                    </a:p>
                  </a:txBody>
                  <a:tcPr marL="93370" marR="93370" marT="46685" marB="46685"/>
                </a:tc>
                <a:tc>
                  <a:txBody>
                    <a:bodyPr/>
                    <a:lstStyle/>
                    <a:p>
                      <a:pPr algn="ctr"/>
                      <a:r>
                        <a:rPr lang="it-IT" sz="1400" dirty="0" smtClean="0"/>
                        <a:t>Trasporti pubblici e shopping a Tokyo e altre aree selezionate</a:t>
                      </a:r>
                      <a:endParaRPr lang="it-IT" sz="1400" dirty="0"/>
                    </a:p>
                  </a:txBody>
                  <a:tcPr marL="93370" marR="93370" marT="46685" marB="46685"/>
                </a:tc>
                <a:extLst>
                  <a:ext uri="{0D108BD9-81ED-4DB2-BD59-A6C34878D82A}">
                    <a16:rowId xmlns:a16="http://schemas.microsoft.com/office/drawing/2014/main" val="614181623"/>
                  </a:ext>
                </a:extLst>
              </a:tr>
              <a:tr h="864546">
                <a:tc>
                  <a:txBody>
                    <a:bodyPr/>
                    <a:lstStyle/>
                    <a:p>
                      <a:pPr algn="ctr"/>
                      <a:r>
                        <a:rPr lang="it-IT" sz="1800" dirty="0" smtClean="0"/>
                        <a:t>Icoca</a:t>
                      </a:r>
                      <a:endParaRPr lang="it-IT" sz="1800" dirty="0"/>
                    </a:p>
                  </a:txBody>
                  <a:tcPr marL="93370" marR="93370" marT="46685" marB="46685"/>
                </a:tc>
                <a:tc>
                  <a:txBody>
                    <a:bodyPr/>
                    <a:lstStyle/>
                    <a:p>
                      <a:pPr algn="ctr"/>
                      <a:r>
                        <a:rPr lang="it-IT" sz="1400" dirty="0" smtClean="0"/>
                        <a:t>¥2000(incluso deposito di ¥500)</a:t>
                      </a:r>
                      <a:endParaRPr lang="it-IT" sz="14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¥10</a:t>
                      </a:r>
                      <a:endParaRPr lang="it-IT" sz="1400" dirty="0"/>
                    </a:p>
                  </a:txBody>
                  <a:tcPr marL="93370" marR="93370" marT="46685" marB="46685"/>
                </a:tc>
                <a:tc>
                  <a:txBody>
                    <a:bodyPr/>
                    <a:lstStyle/>
                    <a:p>
                      <a:pPr algn="ctr"/>
                      <a:r>
                        <a:rPr lang="it-IT" sz="1400" b="0" i="0" kern="1200" dirty="0" smtClean="0">
                          <a:solidFill>
                            <a:schemeClr val="dk1"/>
                          </a:solidFill>
                          <a:effectLst/>
                          <a:latin typeface="+mn-lt"/>
                          <a:ea typeface="+mn-ea"/>
                          <a:cs typeface="+mn-cs"/>
                        </a:rPr>
                        <a:t>¥20.000</a:t>
                      </a:r>
                      <a:endParaRPr lang="it-IT" sz="1400" dirty="0"/>
                    </a:p>
                  </a:txBody>
                  <a:tcPr marL="93370" marR="93370" marT="46685" marB="46685"/>
                </a:tc>
                <a:tc>
                  <a:txBody>
                    <a:bodyPr/>
                    <a:lstStyle/>
                    <a:p>
                      <a:pPr algn="ctr"/>
                      <a:r>
                        <a:rPr lang="it-IT" sz="1400" dirty="0" smtClean="0"/>
                        <a:t>10 anni</a:t>
                      </a:r>
                      <a:endParaRPr lang="it-IT" sz="1400" dirty="0"/>
                    </a:p>
                  </a:txBody>
                  <a:tcPr marL="93370" marR="93370" marT="46685" marB="46685"/>
                </a:tc>
                <a:tc>
                  <a:txBody>
                    <a:bodyPr/>
                    <a:lstStyle/>
                    <a:p>
                      <a:pPr algn="ctr"/>
                      <a:r>
                        <a:rPr lang="it-IT" sz="1400" dirty="0" smtClean="0"/>
                        <a:t>Trasporti pubblici e shopping a Osaka e altre aree selezionate</a:t>
                      </a:r>
                      <a:endParaRPr lang="it-IT" sz="1400" dirty="0"/>
                    </a:p>
                  </a:txBody>
                  <a:tcPr marL="93370" marR="93370" marT="46685" marB="46685"/>
                </a:tc>
                <a:extLst>
                  <a:ext uri="{0D108BD9-81ED-4DB2-BD59-A6C34878D82A}">
                    <a16:rowId xmlns:a16="http://schemas.microsoft.com/office/drawing/2014/main" val="906855720"/>
                  </a:ext>
                </a:extLst>
              </a:tr>
            </a:tbl>
          </a:graphicData>
        </a:graphic>
      </p:graphicFrame>
      <p:pic>
        <p:nvPicPr>
          <p:cNvPr id="8" name="Picture 7"/>
          <p:cNvPicPr>
            <a:picLocks noChangeAspect="1"/>
          </p:cNvPicPr>
          <p:nvPr/>
        </p:nvPicPr>
        <p:blipFill>
          <a:blip r:embed="rId2"/>
          <a:stretch>
            <a:fillRect/>
          </a:stretch>
        </p:blipFill>
        <p:spPr>
          <a:xfrm>
            <a:off x="3572875" y="185308"/>
            <a:ext cx="2079780" cy="1361796"/>
          </a:xfrm>
          <a:prstGeom prst="rect">
            <a:avLst/>
          </a:prstGeom>
        </p:spPr>
      </p:pic>
      <p:pic>
        <p:nvPicPr>
          <p:cNvPr id="9" name="Picture 8"/>
          <p:cNvPicPr>
            <a:picLocks noChangeAspect="1"/>
          </p:cNvPicPr>
          <p:nvPr/>
        </p:nvPicPr>
        <p:blipFill>
          <a:blip r:embed="rId3"/>
          <a:stretch>
            <a:fillRect/>
          </a:stretch>
        </p:blipFill>
        <p:spPr>
          <a:xfrm>
            <a:off x="5652655" y="205023"/>
            <a:ext cx="2038523" cy="1380519"/>
          </a:xfrm>
          <a:prstGeom prst="rect">
            <a:avLst/>
          </a:prstGeom>
        </p:spPr>
      </p:pic>
      <p:pic>
        <p:nvPicPr>
          <p:cNvPr id="10" name="Picture 9"/>
          <p:cNvPicPr>
            <a:picLocks noChangeAspect="1"/>
          </p:cNvPicPr>
          <p:nvPr/>
        </p:nvPicPr>
        <p:blipFill>
          <a:blip r:embed="rId4"/>
          <a:stretch>
            <a:fillRect/>
          </a:stretch>
        </p:blipFill>
        <p:spPr>
          <a:xfrm>
            <a:off x="7646812" y="227231"/>
            <a:ext cx="1994364" cy="1259012"/>
          </a:xfrm>
          <a:prstGeom prst="rect">
            <a:avLst/>
          </a:prstGeom>
        </p:spPr>
      </p:pic>
      <p:pic>
        <p:nvPicPr>
          <p:cNvPr id="11" name="Picture 10"/>
          <p:cNvPicPr>
            <a:picLocks noChangeAspect="1"/>
          </p:cNvPicPr>
          <p:nvPr/>
        </p:nvPicPr>
        <p:blipFill>
          <a:blip r:embed="rId5"/>
          <a:stretch>
            <a:fillRect/>
          </a:stretch>
        </p:blipFill>
        <p:spPr>
          <a:xfrm>
            <a:off x="9682433" y="254213"/>
            <a:ext cx="1976657" cy="1242708"/>
          </a:xfrm>
          <a:prstGeom prst="rect">
            <a:avLst/>
          </a:prstGeom>
        </p:spPr>
      </p:pic>
    </p:spTree>
    <p:extLst>
      <p:ext uri="{BB962C8B-B14F-4D97-AF65-F5344CB8AC3E}">
        <p14:creationId xmlns:p14="http://schemas.microsoft.com/office/powerpoint/2010/main" val="3218261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b="1" dirty="0"/>
              <a:t>AVVISO </a:t>
            </a:r>
            <a:r>
              <a:rPr lang="it-IT" b="1" dirty="0" smtClean="0"/>
              <a:t>IMPORTANTE</a:t>
            </a:r>
            <a:endParaRPr lang="it-IT" dirty="0"/>
          </a:p>
        </p:txBody>
      </p:sp>
      <p:sp>
        <p:nvSpPr>
          <p:cNvPr id="3" name="Content Placeholder 2"/>
          <p:cNvSpPr>
            <a:spLocks noGrp="1"/>
          </p:cNvSpPr>
          <p:nvPr>
            <p:ph idx="1"/>
          </p:nvPr>
        </p:nvSpPr>
        <p:spPr/>
        <p:txBody>
          <a:bodyPr/>
          <a:lstStyle/>
          <a:p>
            <a:r>
              <a:rPr lang="it-IT" dirty="0"/>
              <a:t>A causa della carenza di chip IC, la vendita delle carte Suica e Pasmo è attualmente sospesa fino a nuovo avviso. Un'eccezione è fatta all'aeroporto di Narita, alla stazione di Tokyo, alla stazione di Shinagawa, alla stazione di Shibuya, alla stazione di Shinjuku, alla stazione di Ikebukuro e alla stazione di Ueno, dove le carte Suica possono essere acquistate presso i centri di servizio JR East Travel. Inoltre, le carte "Welcome Suica" possono essere acquistate presso l'aeroporto di Haneda, mentre le carte "Pasmo Passport" rimangono in vendita presso le sedi di Tokyo. Altre schede IC, come Icoca e Toica, sono in vendita come di consueto.</a:t>
            </a:r>
          </a:p>
          <a:p>
            <a:r>
              <a:rPr lang="it-IT" dirty="0"/>
              <a:t>Suica, Pasmo, Icoca e altre sette delle schede IC più popolari del Giappone sono state rese compatibili tra loro nel 2013, rendendo possibile viaggiare su quasi tutti i </a:t>
            </a:r>
            <a:r>
              <a:rPr lang="it-IT" dirty="0">
                <a:hlinkClick r:id="rId2"/>
              </a:rPr>
              <a:t>treni</a:t>
            </a:r>
            <a:r>
              <a:rPr lang="it-IT" dirty="0"/>
              <a:t>, le metropolitane e </a:t>
            </a:r>
            <a:r>
              <a:rPr lang="it-IT" dirty="0">
                <a:hlinkClick r:id="rId3"/>
              </a:rPr>
              <a:t>gli autobus</a:t>
            </a:r>
            <a:r>
              <a:rPr lang="it-IT" dirty="0"/>
              <a:t> nella maggior parte delle </a:t>
            </a:r>
            <a:r>
              <a:rPr lang="it-IT" dirty="0">
                <a:hlinkClick r:id="rId4"/>
              </a:rPr>
              <a:t>più grandi città del Giappone</a:t>
            </a:r>
            <a:r>
              <a:rPr lang="it-IT" dirty="0"/>
              <a:t> con una sola di queste schede.</a:t>
            </a:r>
          </a:p>
          <a:p>
            <a:pPr marL="0" indent="0">
              <a:buNone/>
            </a:pPr>
            <a:endParaRPr lang="it-IT" dirty="0"/>
          </a:p>
        </p:txBody>
      </p:sp>
    </p:spTree>
    <p:extLst>
      <p:ext uri="{BB962C8B-B14F-4D97-AF65-F5344CB8AC3E}">
        <p14:creationId xmlns:p14="http://schemas.microsoft.com/office/powerpoint/2010/main" val="7067946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57</TotalTime>
  <Words>683</Words>
  <Application>Microsoft Office PowerPoint</Application>
  <PresentationFormat>Widescreen</PresentationFormat>
  <Paragraphs>70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Rockwell</vt:lpstr>
      <vt:lpstr>Rockwell Condensed</vt:lpstr>
      <vt:lpstr>Wingdings</vt:lpstr>
      <vt:lpstr>Wood Type</vt:lpstr>
      <vt:lpstr>Viaggio in Giappone</vt:lpstr>
      <vt:lpstr>Il diellemma assicurazione viaggi</vt:lpstr>
      <vt:lpstr>Cosa importante per la partenza</vt:lpstr>
      <vt:lpstr>Rete Mobile</vt:lpstr>
      <vt:lpstr>Il JR Pass</vt:lpstr>
      <vt:lpstr>Cosa mettere in valigia</vt:lpstr>
      <vt:lpstr>Cosa fare all’atteraggio</vt:lpstr>
      <vt:lpstr>Cambio contanti</vt:lpstr>
      <vt:lpstr>Carte IC</vt:lpstr>
      <vt:lpstr>Carte IC</vt:lpstr>
      <vt:lpstr>AVVISO IMPORTANTE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Viaggio in Giappone</dc:title>
  <dc:creator>Utente Windows</dc:creator>
  <cp:lastModifiedBy>Utente Windows</cp:lastModifiedBy>
  <cp:revision>7</cp:revision>
  <dcterms:created xsi:type="dcterms:W3CDTF">2024-04-03T13:59:43Z</dcterms:created>
  <dcterms:modified xsi:type="dcterms:W3CDTF">2024-04-03T14:57:02Z</dcterms:modified>
</cp:coreProperties>
</file>